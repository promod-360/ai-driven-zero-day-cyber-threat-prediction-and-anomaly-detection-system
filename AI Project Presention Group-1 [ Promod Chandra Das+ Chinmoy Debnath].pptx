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59-4150-AE16-2D23FD963DE0}"/>
              </c:ext>
            </c:extLst>
          </c:dPt>
          <c:dPt>
            <c:idx val="1"/>
            <c:bubble3D val="0"/>
            <c:spPr>
              <a:solidFill>
                <a:srgbClr val="FF4D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59-4150-AE16-2D23FD963DE0}"/>
              </c:ext>
            </c:extLst>
          </c:dPt>
          <c:dPt>
            <c:idx val="2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59-4150-AE16-2D23FD963DE0}"/>
              </c:ext>
            </c:extLst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59-4150-AE16-2D23FD963DE0}"/>
              </c:ext>
            </c:extLst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6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D59-4150-AE16-2D23FD963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0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image (CC0 via Wikimedia Commons): https://commons.wikimedia.org/wiki/File:Cybersecurity.png
- AI brain image (public domain per Wikimedia Commons): https://commons.wikimedia.org/wiki/File:Human_brain_blue_circuit_white_background_artificial_intelligence_icon_(DALL-_E)_Dec_2024.jpg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SOC photo (public domain, US NSA) via Wikimedia Commons: https://commons.wikimedia.org/wiki/File:NSOC-2012.jpg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Zero-day concept and why signature-based detection can miss them (SANS glossary): https://www.sans.org/security-resources/glossary-of-terms/zero-day-exploit
- Background image (CC0 via Wikimedia Commons): https://commons.wikimedia.org/wiki/File:Cybersecurity.png
- AI brain image (public domain per Wikimedia Commons): https://commons.wikimedia.org/wiki/File:Human_brain_blue_circuit_white_background_artificial_intelligence_icon_(DALL-_E)_Dec_2024.jpg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Why anomaly detection is used for unknown/zero-day scenarios (survey): https://link.springer.com/article/10.1007/s10462-023-10437-z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Zero-day evasion of signature-based defenses (SANS glossary): https://www.sans.org/security-resources/glossary-of-terms/zero-day-exploit
- Background image (CC0 via Wikimedia Commons): https://commons.wikimedia.org/wiki/File:Cybersecurity.png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image (CC0 via Wikimedia Commons): https://commons.wikimedia.org/wiki/File:Cybersecurity.png
- SOC photo (public domain, US NSA) via Wikimedia Commons: https://commons.wikimedia.org/wiki/File:NSOC-2012.jpg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IsolationForest reference (scikit-learn docs): https://scikit-learn.org/stable/modules/generated/sklearn.ensemble.IsolationForest.html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image (CC0 via Wikimedia Commons): https://commons.wikimedia.org/wiki/File:Cybersecurity.png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SOC photo (public domain, US NSA) via Wikimedia Commons: https://commons.wikimedia.org/wiki/File:NSOC-2012.jpg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image (CC0 via Wikimedia Commons): https://commons.wikimedia.org/wiki/File:Cybersecurity.png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IsolationForest reference (scikit-learn docs): https://scikit-learn.org/stable/modules/generated/sklearn.ensemble.IsolationForest.html
- Zero-day context &amp; behavior-based approaches (survey): https://link.springer.com/article/10.1007/s10462-023-10437-z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3" Type="http://schemas.openxmlformats.org/officeDocument/2006/relationships/image" Target="../media/image3.jpg"/><Relationship Id="rId7" Type="http://schemas.openxmlformats.org/officeDocument/2006/relationships/slide" Target="slide6.xml"/><Relationship Id="rId12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5" Type="http://schemas.openxmlformats.org/officeDocument/2006/relationships/slide" Target="slide2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Relationship Id="rId1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7.xml"/><Relationship Id="rId7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6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0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security_bg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9218"/>
            <a:ext cx="12191695" cy="693851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pic>
        <p:nvPicPr>
          <p:cNvPr id="5" name="Image 1" descr="/mnt/data/ai_br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535" y="914400"/>
            <a:ext cx="274320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64008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Zero-Day Threat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Indication &amp; Anomaly Detection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68096" y="221741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rgbClr val="EAF2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EAF2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Course: Artificial Intelligence Lab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Information: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Promod Chandra Das – 231002005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Chinmoy Debnath -231902029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68096" y="295183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by: Mr. </a:t>
            </a:r>
            <a:r>
              <a:rPr lang="en-US" sz="1400" dirty="0" err="1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Mozdaher</a:t>
            </a: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Abdul Quader  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3265" y="4286857"/>
            <a:ext cx="2377440" cy="502920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>
            <a:hlinkClick r:id="rId5" action="ppaction://hlinksldjump" tooltip="Go to agenda"/>
          </p:cNvPr>
          <p:cNvSpPr/>
          <p:nvPr/>
        </p:nvSpPr>
        <p:spPr>
          <a:xfrm>
            <a:off x="823265" y="4286857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r>
              <a:rPr lang="en-US" sz="18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▶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423D38-23AE-19E5-718F-5156F4A330C4}"/>
              </a:ext>
            </a:extLst>
          </p:cNvPr>
          <p:cNvSpPr txBox="1"/>
          <p:nvPr/>
        </p:nvSpPr>
        <p:spPr>
          <a:xfrm>
            <a:off x="286917" y="645945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8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000" dirty="0"/>
          </a:p>
        </p:txBody>
      </p:sp>
      <p:pic>
        <p:nvPicPr>
          <p:cNvPr id="6" name="Image 0" descr="/mnt/data/soc_room.jpg"/>
          <p:cNvPicPr>
            <a:picLocks noChangeAspect="1"/>
          </p:cNvPicPr>
          <p:nvPr/>
        </p:nvPicPr>
        <p:blipFill>
          <a:blip r:embed="rId3"/>
          <a:srcRect l="13973" r="13973"/>
          <a:stretch/>
        </p:blipFill>
        <p:spPr>
          <a:xfrm>
            <a:off x="6492240" y="1508760"/>
            <a:ext cx="48920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508760"/>
            <a:ext cx="4892040" cy="452628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23304F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58064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 view 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1645920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08" y="1755648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1" name="Text 8">
            <a:hlinkClick r:id="rId4" action="ppaction://hlinksldjump" tooltip="Jump to slide 3"/>
          </p:cNvPr>
          <p:cNvSpPr/>
          <p:nvPr/>
        </p:nvSpPr>
        <p:spPr>
          <a:xfrm>
            <a:off x="1371600" y="1755648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Statement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2313432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8408" y="2423160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4" name="Text 11">
            <a:hlinkClick r:id="rId5" action="ppaction://hlinksldjump" tooltip="Jump to slide 4"/>
          </p:cNvPr>
          <p:cNvSpPr/>
          <p:nvPr/>
        </p:nvSpPr>
        <p:spPr>
          <a:xfrm>
            <a:off x="1371600" y="2423160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Objectives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8680" y="2980944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78408" y="3090672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7" name="Text 14">
            <a:hlinkClick r:id="rId6" action="ppaction://hlinksldjump" tooltip="Jump to slide 5"/>
          </p:cNvPr>
          <p:cNvSpPr/>
          <p:nvPr/>
        </p:nvSpPr>
        <p:spPr>
          <a:xfrm>
            <a:off x="1371600" y="3090672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AI + Anomaly Detection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68680" y="3648456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" y="3758184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0" name="Text 17">
            <a:hlinkClick r:id="rId7" action="ppaction://hlinksldjump" tooltip="Jump to slide 6"/>
          </p:cNvPr>
          <p:cNvSpPr/>
          <p:nvPr/>
        </p:nvSpPr>
        <p:spPr>
          <a:xfrm>
            <a:off x="1371600" y="3758184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Architecture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68680" y="4315968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8408" y="4425696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3" name="Text 20">
            <a:hlinkClick r:id="rId8" action="ppaction://hlinksldjump" tooltip="Jump to slide 7"/>
          </p:cNvPr>
          <p:cNvSpPr/>
          <p:nvPr/>
        </p:nvSpPr>
        <p:spPr>
          <a:xfrm>
            <a:off x="1371600" y="4425696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&amp; Features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68680" y="4983480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8408" y="5093208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6" name="Text 23">
            <a:hlinkClick r:id="rId9" action="ppaction://hlinksldjump" tooltip="Jump to slide 8"/>
          </p:cNvPr>
          <p:cNvSpPr/>
          <p:nvPr/>
        </p:nvSpPr>
        <p:spPr>
          <a:xfrm>
            <a:off x="1371600" y="5093208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 Model (Isolation Forest)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68680" y="5650992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8408" y="5760720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9" name="Text 26">
            <a:hlinkClick r:id="rId10" action="ppaction://hlinksldjump" tooltip="Jump to slide 9"/>
          </p:cNvPr>
          <p:cNvSpPr/>
          <p:nvPr/>
        </p:nvSpPr>
        <p:spPr>
          <a:xfrm>
            <a:off x="1371600" y="5760720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0" action="ppaction://hlinksldjump" tooltip="Jump to slide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Risk Logic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68680" y="6318504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8408" y="6428232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32" name="Text 29">
            <a:hlinkClick r:id="rId11" action="ppaction://hlinksldjump" tooltip="Jump to slide 10"/>
          </p:cNvPr>
          <p:cNvSpPr/>
          <p:nvPr/>
        </p:nvSpPr>
        <p:spPr>
          <a:xfrm>
            <a:off x="1371600" y="6428232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1" action="ppaction://hlinksldjump" tooltip="Jump to slide 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Real-time SOC Simulation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68680" y="6986016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8408" y="7095744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35" name="Text 32">
            <a:hlinkClick r:id="rId12" action="ppaction://hlinksldjump" tooltip="Jump to slide 11"/>
          </p:cNvPr>
          <p:cNvSpPr/>
          <p:nvPr/>
        </p:nvSpPr>
        <p:spPr>
          <a:xfrm>
            <a:off x="1371600" y="7095744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2" action="ppaction://hlinksldjump" tooltip="Jump to slide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Outputs &amp; Reports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68680" y="7653528"/>
            <a:ext cx="539496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78408" y="7763256"/>
            <a:ext cx="283464" cy="283464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38" name="Text 35">
            <a:hlinkClick r:id="rId13" action="ppaction://hlinksldjump" tooltip="Jump to slide 12"/>
          </p:cNvPr>
          <p:cNvSpPr/>
          <p:nvPr/>
        </p:nvSpPr>
        <p:spPr>
          <a:xfrm>
            <a:off x="1371600" y="7763256"/>
            <a:ext cx="4754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3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 &amp; Future Scope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40" name="Text 37">
            <a:hlinkClick r:id="rId14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4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42" name="Text 39">
            <a:hlinkClick r:id="rId15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4" name="Text 41">
            <a:hlinkClick r:id="rId4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37160" y="64739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security_bg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640080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1783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challenges today: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194560"/>
            <a:ext cx="5943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defenses rely on known signatures/rules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Zero-day attacks have no prior signature → can evade signature-based detection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need behavior-based detection that learns “normal” and flags deviations</a:t>
            </a:r>
            <a:endParaRPr lang="en-US" sz="1800" dirty="0"/>
          </a:p>
        </p:txBody>
      </p:sp>
      <p:pic>
        <p:nvPicPr>
          <p:cNvPr id="10" name="Image 1" descr="/mnt/data/ai_bra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535" y="1435608"/>
            <a:ext cx="3931920" cy="3931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9755" y="53675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we detect unknown/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zero-day threats without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predefined attack patterns?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482535" y="6364084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4" name="Text 10">
            <a:hlinkClick r:id="rId5" action="ppaction://hlinksldjump" tooltip="Previous slide"/>
          </p:cNvPr>
          <p:cNvSpPr/>
          <p:nvPr/>
        </p:nvSpPr>
        <p:spPr>
          <a:xfrm>
            <a:off x="7498080" y="635806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6" name="Text 12">
            <a:hlinkClick r:id="rId5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8" name="Text 14">
            <a:hlinkClick r:id="rId6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74320" y="6492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44068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Goal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Indicate potential zero-day cyber threats using unsupervised anomaly detection.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baseline (normal) behavior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abnormal deviations (anomalies)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risk levels (LOW → CRITICAL)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analyst-friendly alerts + reports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1508760"/>
            <a:ext cx="5010912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20840" y="2194560"/>
            <a:ext cx="45720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CLI menu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SOC-style streaming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outputs + plot + report.txt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“WHY” for alerts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5" name="Text 13">
            <a:hlinkClick r:id="rId3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7" name="Text 15">
            <a:hlinkClick r:id="rId4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9" name="Text 17">
            <a:hlinkClick r:id="rId5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security_bg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AI + Anomaly Detection?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576072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AI?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148840"/>
            <a:ext cx="53949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patterns from data automatically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Adapts when behavior changes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to large telemetry datasets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3703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Anomaly Detection?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4069080"/>
            <a:ext cx="53949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Zero-day = unknown → no signature to match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normal baseline, flag deviations as suspicious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as early-warning signal for SOC triage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675120" y="1508760"/>
            <a:ext cx="461772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4944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49440" y="22860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signature needed.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0D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detect behavior that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0D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looks abnormal vs baseline.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94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“threat indication” — not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attack-name classification.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7" name="Text 14">
            <a:hlinkClick r:id="rId4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9" name="Text 16">
            <a:hlinkClick r:id="rId5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1" name="Text 18">
            <a:hlinkClick r:id="rId6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057400" cy="96012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>
            <a:hlinkClick r:id="rId3" action="ppaction://hlinksldjump" tooltip="Jump to slide 7"/>
          </p:cNvPr>
          <p:cNvSpPr/>
          <p:nvPr/>
        </p:nvSpPr>
        <p:spPr>
          <a:xfrm>
            <a:off x="960120" y="19659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Load Dataset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(CSV / Excel)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057400" cy="96012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>
            <a:hlinkClick r:id="rId3" action="ppaction://hlinksldjump" tooltip="Jump to slide 7"/>
          </p:cNvPr>
          <p:cNvSpPr/>
          <p:nvPr/>
        </p:nvSpPr>
        <p:spPr>
          <a:xfrm>
            <a:off x="3429000" y="19659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Preprocess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 Normalize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2057400" cy="96012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>
            <a:hlinkClick r:id="rId4" action="ppaction://hlinksldjump" tooltip="Jump to slide 8"/>
          </p:cNvPr>
          <p:cNvSpPr/>
          <p:nvPr/>
        </p:nvSpPr>
        <p:spPr>
          <a:xfrm>
            <a:off x="5897880" y="19659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Train Baseline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(Isolation Forest)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2057400" cy="96012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>
            <a:hlinkClick r:id="rId4" action="ppaction://hlinksldjump" tooltip="Jump to slide 8"/>
          </p:cNvPr>
          <p:cNvSpPr/>
          <p:nvPr/>
        </p:nvSpPr>
        <p:spPr>
          <a:xfrm>
            <a:off x="8366760" y="19659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4) Detect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Anomalies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57400" y="4114800"/>
            <a:ext cx="2057400" cy="96012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>
            <a:hlinkClick r:id="rId5" action="ppaction://hlinksldjump" tooltip="Jump to slide 9"/>
          </p:cNvPr>
          <p:cNvSpPr/>
          <p:nvPr/>
        </p:nvSpPr>
        <p:spPr>
          <a:xfrm>
            <a:off x="2194560" y="42519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Jump to slide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5) Risk + Alerts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Jump to slide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 Explain WHY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4114800"/>
            <a:ext cx="2057400" cy="96012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>
            <a:hlinkClick r:id="rId6" action="ppaction://hlinksldjump" tooltip="Jump to slide 11"/>
          </p:cNvPr>
          <p:cNvSpPr/>
          <p:nvPr/>
        </p:nvSpPr>
        <p:spPr>
          <a:xfrm>
            <a:off x="6675120" y="42519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Jump to slide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6) SOC Streaming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Jump to slide 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 Reports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88920" y="2313432"/>
            <a:ext cx="320040" cy="73152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3108960" y="2212848"/>
            <a:ext cx="201168" cy="274320"/>
          </a:xfrm>
          <a:prstGeom prst="triangl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313432"/>
            <a:ext cx="320040" cy="73152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5577840" y="2212848"/>
            <a:ext cx="201168" cy="274320"/>
          </a:xfrm>
          <a:prstGeom prst="triangl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2313432"/>
            <a:ext cx="320040" cy="73152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8046720" y="2212848"/>
            <a:ext cx="201168" cy="274320"/>
          </a:xfrm>
          <a:prstGeom prst="triangl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2834640"/>
            <a:ext cx="73152" cy="1051560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9144000" y="3822192"/>
            <a:ext cx="274320" cy="201168"/>
          </a:xfrm>
          <a:prstGeom prst="triangl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4599432"/>
            <a:ext cx="2103120" cy="73152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6355080" y="4498848"/>
            <a:ext cx="201168" cy="274320"/>
          </a:xfrm>
          <a:prstGeom prst="triangle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61576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Interactive: click any box to jump to details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30" name="Text 28">
            <a:hlinkClick r:id="rId7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32" name="Text 30">
            <a:hlinkClick r:id="rId8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34" name="Text 32">
            <a:hlinkClick r:id="rId3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security_bg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Features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621792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1783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0574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&amp; system telemetry (CSV/Excel). The system auto-detects numeric features.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features used in demo mode: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3108960"/>
            <a:ext cx="58521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usage, memory usage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failure count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Inbound/outbound traffic volume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destination IPs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Port-scan-like behavior score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223760" y="1508760"/>
            <a:ext cx="4251960" cy="214884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9808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 Supported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98080" y="214884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 dataset mode (CSV/Excel)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 simulation mode (synthetic telemetry)</a:t>
            </a:r>
            <a:endParaRPr lang="en-US" sz="1400" dirty="0"/>
          </a:p>
        </p:txBody>
      </p:sp>
      <p:pic>
        <p:nvPicPr>
          <p:cNvPr id="15" name="Image 1" descr="/mnt/data/soc_room.jpg"/>
          <p:cNvPicPr>
            <a:picLocks noChangeAspect="1"/>
          </p:cNvPicPr>
          <p:nvPr/>
        </p:nvPicPr>
        <p:blipFill>
          <a:blip r:embed="rId4"/>
          <a:srcRect t="8065" b="8065"/>
          <a:stretch/>
        </p:blipFill>
        <p:spPr>
          <a:xfrm>
            <a:off x="7223760" y="3886200"/>
            <a:ext cx="4251960" cy="23774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223760" y="3886200"/>
            <a:ext cx="4251960" cy="2377440"/>
          </a:xfrm>
          <a:prstGeom prst="rect">
            <a:avLst/>
          </a:prstGeom>
          <a:solidFill>
            <a:srgbClr val="0B1220">
              <a:alpha val="55000"/>
            </a:srgbClr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52360" y="5989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→ Alerts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9" name="Text 15">
            <a:hlinkClick r:id="rId5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1" name="Text 17">
            <a:hlinkClick r:id="rId6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3" name="Text 19">
            <a:hlinkClick r:id="rId7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608076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8308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Model: Isolation Forest (Unsupervised)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model?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56692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without labeled attacks (common in real security logs)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for outlier/anomaly detection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anomaly scores for ranking alerts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baseline on ~70% data → detect anomalies on remaining ~30%.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95160" y="1508760"/>
            <a:ext cx="443484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1783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Concept: isolate outliers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3575304"/>
            <a:ext cx="411480" cy="1316736"/>
          </a:xfrm>
          <a:prstGeom prst="rect">
            <a:avLst/>
          </a:prstGeom>
          <a:solidFill>
            <a:srgbClr val="00D1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026664"/>
            <a:ext cx="411480" cy="1865376"/>
          </a:xfrm>
          <a:prstGeom prst="rect">
            <a:avLst/>
          </a:prstGeom>
          <a:solidFill>
            <a:srgbClr val="00D1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4123944"/>
            <a:ext cx="411480" cy="768096"/>
          </a:xfrm>
          <a:prstGeom prst="rect">
            <a:avLst/>
          </a:prstGeom>
          <a:solidFill>
            <a:srgbClr val="00D1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2807208"/>
            <a:ext cx="411480" cy="2084832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95560" y="4343400"/>
            <a:ext cx="411480" cy="548640"/>
          </a:xfrm>
          <a:prstGeom prst="rect">
            <a:avLst/>
          </a:prstGeom>
          <a:solidFill>
            <a:srgbClr val="00D1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50749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Shorter path length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more anomalous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1" name="Text 19">
            <a:hlinkClick r:id="rId3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3" name="Text 21">
            <a:hlinkClick r:id="rId4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5" name="Text 23">
            <a:hlinkClick r:id="rId5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security_bg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Classification Logic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608076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1783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anomaly is mapped to a risk level based on its score: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05840" y="2331720"/>
            <a:ext cx="55778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17520" y="2441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/ Action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05840" y="2834640"/>
            <a:ext cx="5577840" cy="566928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2990088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3040" y="29626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17520" y="296265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Severe abnormal behavior (urgent investigation)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05840" y="3493008"/>
            <a:ext cx="5577840" cy="566928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43000" y="3648456"/>
            <a:ext cx="256032" cy="256032"/>
          </a:xfrm>
          <a:prstGeom prst="rect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362102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17520" y="362102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intrusion (triage + containment)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05840" y="4151376"/>
            <a:ext cx="5577840" cy="566928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>
                <a:alpha val="9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43000" y="4306824"/>
            <a:ext cx="256032" cy="2560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63040" y="42793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017520" y="427939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activity (review &amp; correlate)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05840" y="4809744"/>
            <a:ext cx="5577840" cy="566928"/>
          </a:xfrm>
          <a:prstGeom prst="rect">
            <a:avLst/>
          </a:prstGeom>
          <a:solidFill>
            <a:srgbClr val="111A2E"/>
          </a:solidFill>
          <a:ln w="12700">
            <a:solidFill>
              <a:srgbClr val="22304F">
                <a:alpha val="9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43000" y="4965192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63040" y="493776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017520" y="493776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Minor anomaly (monitor)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05840" y="5989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 system indicates risk; it does not output exact attack names.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025335" y="1508760"/>
            <a:ext cx="443484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269480" y="1783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→ Risk mapping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452360" y="2331720"/>
            <a:ext cx="822960" cy="356616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52360" y="3246120"/>
            <a:ext cx="822960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52360" y="4160520"/>
            <a:ext cx="822960" cy="914400"/>
          </a:xfrm>
          <a:prstGeom prst="rect">
            <a:avLst/>
          </a:prstGeom>
          <a:solidFill>
            <a:srgbClr val="FF4D4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52360" y="5074920"/>
            <a:ext cx="82296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5820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45820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45820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458200" y="5166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300738" y="583387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negative score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more suspicious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41" name="Text 38">
            <a:hlinkClick r:id="rId4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43" name="Text 40">
            <a:hlinkClick r:id="rId5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45" name="Text 42">
            <a:hlinkClick r:id="rId6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SOC Simulation</a:t>
            </a:r>
            <a:endParaRPr lang="en-US" sz="3000" dirty="0"/>
          </a:p>
        </p:txBody>
      </p:sp>
      <p:pic>
        <p:nvPicPr>
          <p:cNvPr id="6" name="Image 0" descr="/mnt/data/soc_room.jpg"/>
          <p:cNvPicPr>
            <a:picLocks noChangeAspect="1"/>
          </p:cNvPicPr>
          <p:nvPr/>
        </p:nvPicPr>
        <p:blipFill>
          <a:blip r:embed="rId3"/>
          <a:srcRect l="10667" r="10667"/>
          <a:stretch/>
        </p:blipFill>
        <p:spPr>
          <a:xfrm>
            <a:off x="731520" y="1554480"/>
            <a:ext cx="539496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554480"/>
            <a:ext cx="5394960" cy="4572000"/>
          </a:xfrm>
          <a:prstGeom prst="rect">
            <a:avLst/>
          </a:prstGeom>
          <a:solidFill>
            <a:srgbClr val="0B1220">
              <a:alpha val="55000"/>
            </a:srgbClr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27632" y="6126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SOC-style monitoring (streaming alerts)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508760"/>
            <a:ext cx="5056632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508760"/>
            <a:ext cx="5056632" cy="4754880"/>
          </a:xfrm>
          <a:prstGeom prst="rect">
            <a:avLst/>
          </a:prstGeom>
          <a:solidFill>
            <a:srgbClr val="0A0F1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alerts: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205740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IDX=2425 | RISK=HIGH | TYPE=Possible Intrusion | SCORE=-0.2231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WHY: unique_dst_ips ↑, login_fail_count ↑, port_scan_like ↑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IDX=2610 | RISK=MEDIUM | TYPE=Suspicious Activity | SCORE=-0.1420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WHY: outbound_kbps ↑, unique_dst_ips ↑, cpu_usage ↑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5806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control: presets (Strict/Balanced/Aggressive)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realtime speed + alert-only mode.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5" name="Text 12">
            <a:hlinkClick r:id="rId4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7" name="Text 14">
            <a:hlinkClick r:id="rId5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9" name="Text 16">
            <a:hlinkClick r:id="rId6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ybersecurity_bg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Cybersecurity Lab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 &amp; Reports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31520" y="1508760"/>
            <a:ext cx="612648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1783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output files: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19456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anomaly_results.csv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top_alerts.csv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anomaly_score_plot.png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report.txt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alerts.log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38862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4251960"/>
            <a:ext cx="56692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review &amp; investigation evidence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top suspicious events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Viva/demo-ready documentation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040880" y="1508760"/>
            <a:ext cx="438912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69480" y="1783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breakdown (example)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7269480" y="2148840"/>
          <a:ext cx="38862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Shape 12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7" name="Text 13">
            <a:hlinkClick r:id="rId5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9" name="Text 15">
            <a:hlinkClick r:id="rId6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1" name="Text 17">
            <a:hlinkClick r:id="rId7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806440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20840" y="1508760"/>
            <a:ext cx="5468112" cy="4754880"/>
          </a:xfrm>
          <a:prstGeom prst="rect">
            <a:avLst/>
          </a:prstGeom>
          <a:solidFill>
            <a:srgbClr val="111A2E">
              <a:alpha val="94000"/>
            </a:srgbClr>
          </a:solidFill>
          <a:ln w="12700">
            <a:solidFill>
              <a:srgbClr val="1E2A47">
                <a:alpha val="90000"/>
              </a:srgbClr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5486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anomaly detection can indicate zero-day threats without signatures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flags suspicious deviations, assigns risk, and outputs evidence files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SOC-style streaming makes the demo realistic and explainable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4612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177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Signature-less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Explainable WHY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Real-time mode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4617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attack-name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classification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Needs quality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21488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dashboard (Streamlit) for live exploration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auto-report generation for submission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of anomaly detectors (IF + LOF + Autoencoder)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network integration (NetFlow / logs)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95160" y="5806440"/>
            <a:ext cx="2423160" cy="411480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17" name="Text 15">
            <a:hlinkClick r:id="rId3" action="ppaction://hlinksldjump" tooltip="Go to agenda"/>
          </p:cNvPr>
          <p:cNvSpPr/>
          <p:nvPr/>
        </p:nvSpPr>
        <p:spPr>
          <a:xfrm>
            <a:off x="6995160" y="58613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Agenda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825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9" name="Text 17">
            <a:hlinkClick r:id="rId4" action="ppaction://hlinksldjump" tooltip="Previous slide"/>
          </p:cNvPr>
          <p:cNvSpPr/>
          <p:nvPr/>
        </p:nvSpPr>
        <p:spPr>
          <a:xfrm>
            <a:off x="74825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action="ppaction://hlinksldjump" tooltip="Previous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◀ 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54135" y="6355080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21" name="Text 19">
            <a:hlinkClick r:id="rId3" action="ppaction://hlinksldjump" tooltip="Go to agenda"/>
          </p:cNvPr>
          <p:cNvSpPr/>
          <p:nvPr/>
        </p:nvSpPr>
        <p:spPr>
          <a:xfrm>
            <a:off x="88541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action="ppaction://hlinksldjump" tooltip="Go to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Agenda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25735" y="6355080"/>
            <a:ext cx="1234440" cy="292608"/>
          </a:xfrm>
          <a:prstGeom prst="rect">
            <a:avLst/>
          </a:prstGeom>
          <a:solidFill>
            <a:srgbClr val="00D1FF"/>
          </a:solidFill>
          <a:ln w="12700">
            <a:solidFill>
              <a:srgbClr val="00D1FF"/>
            </a:solidFill>
            <a:prstDash val="solid"/>
          </a:ln>
        </p:spPr>
      </p:sp>
      <p:sp>
        <p:nvSpPr>
          <p:cNvPr id="23" name="Text 21">
            <a:hlinkClick r:id="rId5" action="ppaction://hlinksldjump" tooltip="Next slide"/>
          </p:cNvPr>
          <p:cNvSpPr/>
          <p:nvPr/>
        </p:nvSpPr>
        <p:spPr>
          <a:xfrm>
            <a:off x="10225735" y="63733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0101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action="ppaction://hlinksldjump" tooltip="Next 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6345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143AF09D0E4D4083625650D553C5DA" ma:contentTypeVersion="5" ma:contentTypeDescription="Create a new document." ma:contentTypeScope="" ma:versionID="5bec5ae93e799c7f9c5ea1d6bd1f789d">
  <xsd:schema xmlns:xsd="http://www.w3.org/2001/XMLSchema" xmlns:xs="http://www.w3.org/2001/XMLSchema" xmlns:p="http://schemas.microsoft.com/office/2006/metadata/properties" xmlns:ns2="0dc49fff-f6e6-4d90-9469-7b4e840925ca" targetNamespace="http://schemas.microsoft.com/office/2006/metadata/properties" ma:root="true" ma:fieldsID="b4f80a06f4a4c00626f7f945a9c9e771" ns2:_="">
    <xsd:import namespace="0dc49fff-f6e6-4d90-9469-7b4e840925c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c49fff-f6e6-4d90-9469-7b4e840925ca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dc49fff-f6e6-4d90-9469-7b4e840925ca" xsi:nil="true"/>
  </documentManagement>
</p:properties>
</file>

<file path=customXml/itemProps1.xml><?xml version="1.0" encoding="utf-8"?>
<ds:datastoreItem xmlns:ds="http://schemas.openxmlformats.org/officeDocument/2006/customXml" ds:itemID="{320347FF-4F2F-40A7-8AFD-75203E77DE29}"/>
</file>

<file path=customXml/itemProps2.xml><?xml version="1.0" encoding="utf-8"?>
<ds:datastoreItem xmlns:ds="http://schemas.openxmlformats.org/officeDocument/2006/customXml" ds:itemID="{20E17AC5-1C67-4006-9E8C-AA86BCD41077}"/>
</file>

<file path=customXml/itemProps3.xml><?xml version="1.0" encoding="utf-8"?>
<ds:datastoreItem xmlns:ds="http://schemas.openxmlformats.org/officeDocument/2006/customXml" ds:itemID="{42FA28FB-6B37-4F5C-A290-D400CF3EF082}"/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1406</Words>
  <Application>Microsoft Office PowerPoint</Application>
  <PresentationFormat>Widescreen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Promod Chondra Das</cp:lastModifiedBy>
  <cp:revision>2</cp:revision>
  <dcterms:created xsi:type="dcterms:W3CDTF">2025-12-27T09:32:10Z</dcterms:created>
  <dcterms:modified xsi:type="dcterms:W3CDTF">2025-12-27T10:00:32Z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0x010100D7143AF09D0E4D4083625650D553C5DA</vt:lpwstr>
  </property>
</Properties>
</file>